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: « La plupart des acteurs aident l'acheteur ; OscarIA aide le vendeur — et de façon neutre. » Double objectif : produit ET certification (BC04 = mener un projet IA en équipe, avec légal et éthique).
=== DÉROULÉ 15 MINUTES ===
1 Couverture 0:30 · 2 Agenda 0:20 · 3 Pourquoi 1:30 · 4 Vision 1:00 · 5 Fonction satisfaction 1:15 · 6 Positionnement 1:00 · 7 Fonctionnalités 1:30 · 8 Parcours 1:00 · 9 Options IA 1:30 · 10 Donnée 1:15 · 11 ROI vendeur 1:00 · 12 BC04 1:15 · 13 Légal &amp; éthique 0:50 · 14 Roadmap 0:45 · 15 Risques 0:40 · 16 Prochaines étapes 0:40. Total ≈ 14:40, puis Q&amp;R. Conseil : les slides 3, 7, 9 sont les plus riches — y consacrer l'énergie, accélérer sur 8, 14,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OscarIA ne « donne pas un prix » (c'est gratuit partout). Il optimise une décision multi-critères. C'est un problème d'aide à la décision — cadrage idéal pour un projet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fonctionnalités viennent directement de notre atelier de cadrage (feuille jointe). Les 3 décisions État/Prix/Date sont le cœur ; gestion et stratégie soignent l'expérience et la rétention.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clé pour le jury IA : plusieurs familles d'algorithmes (régression, classification/survie, séries temporelles, NLP/LLM), avec un enchaînement clair du plus simple (prix) au plus ambitieux. On commence par ce que la donnée disponible permet.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~1:00. Recentrage : ce slide ne parle QUE de la valeur pour le vendeur (pas de modèle économique ni de certification). Les 3 cartes = les 3 termes de la fonction de satisfaction du slide 5. Le modèle économique et la valeur pédagogique se discutent ailleurs (roadmap et slide BC04).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clé pour le jury. BC04 n'est PAS le bloc modèle (c'est BC03) : c'est le bloc PILOTAGE + LÉGAL + ÉTHIQUE. On montre que le projet est pensé pour démontrer ces 4 dimensions, preuves à l'appui.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Clore sur la phrase-produit. Puis dérouler les 4 décisions demandées au groupe. Rappeler le double gain : un produit qui crée de la valeur pour le vendeur, et un projet qui coche les 4 exigences du BC04.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554480"/>
            <a:ext cx="4754880" cy="4754880"/>
          </a:xfrm>
          <a:prstGeom prst="ellipse">
            <a:avLst/>
          </a:prstGeom>
          <a:solidFill>
            <a:srgbClr val="1E52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6FA0FF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731520" cy="731520"/>
          </a:xfrm>
          <a:prstGeom prst="ellipse">
            <a:avLst/>
          </a:prstGeom>
          <a:solidFill>
            <a:srgbClr val="6FA0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745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48640" y="30632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L’assistant IA d’aide à la décision du vendeur de voiture d’occasion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Maximiser le cash encaissé, minimiser le délai de vente et la charge de gestion — une décision à la fois.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projet</a:t>
            </a:r>
            <a:pPr indent="0" marL="0">
              <a:buNone/>
            </a:pPr>
            <a:r>
              <a:rPr lang="en-US" sz="120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Inspiré de l’approche Scanicar, appliquée au vendeur   ·   Certification RNCP38616 — Bloc BC04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allons couvrir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199796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96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pourquoi &amp; le sens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vendeur et la mission d’OscarIA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856232"/>
            <a:ext cx="566928" cy="566928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64" y="1997964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196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&amp; les fonctionnalités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78040" y="22402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décisions clés + gestion et stratégie d’annonce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410712"/>
            <a:ext cx="566928" cy="566928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3552444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3741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options IA &amp; la donnée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54480" y="3794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envisagés et jeu de données Kaggle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15468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3410712"/>
            <a:ext cx="566928" cy="566928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355244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3741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ROI pour le vendeur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178040" y="3794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cash, moins de délai, moins de charge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965192"/>
            <a:ext cx="566928" cy="566928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5106924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49286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projet, légal &amp; éthique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554480" y="5349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avec le bloc RNCP38616 BC04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172200" y="470916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28232" y="4965192"/>
            <a:ext cx="566928" cy="566928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964" y="5106924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49286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 &amp; prochaines étapes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178040" y="5349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MVP, jalons et décisions attendues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· Assistant IA du vendeur VO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92656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RNCP38616 · BC04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POURQUOI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vendeur particulier vend à l’aveugle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 sa voiture, c’est arbitrer en permanence entre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prix, le délai et l’effort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sans repère fiable, et face à des intermédiaires qui sont tous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juges et parties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 racheteur a intérêt à sous-évaluer, la marketplace veut du volume, le mandataire veut sa commission.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971800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31089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~2/3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31520" y="4343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ventes se font entre particuliers (C2C), segment le plus dynamique (+14 % en 2025)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46704" y="269748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02736" y="2971800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31089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9584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 à −40 %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529584" y="4343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décote en cas de rachat express, vs une vente directe au prix du marché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44768" y="269748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0" y="2971800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1089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27648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1-2 % / mois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6327648" y="4343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valeur perdue pendant que le véhicule attend preneur (2 à 4 semaines en moyenne)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42832" y="269748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98864" y="2971800"/>
            <a:ext cx="548640" cy="548640"/>
          </a:xfrm>
          <a:prstGeom prst="ellipse">
            <a:avLst/>
          </a:prstGeom>
          <a:solidFill>
            <a:srgbClr val="E0913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31089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25712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9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9125712" y="4343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neutre, grand public, qui optimise toute la décision de vente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vérifiées : SDES &amp; AAA Data 2025 (volumes, dynamique C2C) ; groupe Legrand, CapCar (décotes, délais). Chiffres de canaux indicatifs.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· Assistant IA du vendeur VO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92656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RNCP38616 · BC04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1E52E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VISION &amp; LE SENS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: optimiser trois décisions pour une seule finalité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assistant qui aide le vendeur à prendre, de façon éclairée, les trois décisions qui déterminent le succès d’une vente —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l’état à viser, le prix à afficher, la date de mise en vente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pour maximiser sa satisfaction globale.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18295E"/>
          </a:solidFill>
          <a:ln w="12700">
            <a:solidFill>
              <a:srgbClr val="1E52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035808"/>
            <a:ext cx="566928" cy="566928"/>
          </a:xfrm>
          <a:prstGeom prst="ellipse">
            <a:avLst/>
          </a:prstGeom>
          <a:solidFill>
            <a:srgbClr val="6FA0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3177540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3127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41248" y="3794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effort / investissement avant la vente 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51960" y="274320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18295E"/>
          </a:solidFill>
          <a:ln w="12700">
            <a:solidFill>
              <a:srgbClr val="1E52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3035808"/>
            <a:ext cx="566928" cy="566928"/>
          </a:xfrm>
          <a:prstGeom prst="ellipse">
            <a:avLst/>
          </a:prstGeom>
          <a:solidFill>
            <a:srgbClr val="6FA0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3177540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3127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44568" y="3794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fourchette réaliste, selon le délai visé ?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55280" y="274320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18295E"/>
          </a:solidFill>
          <a:ln w="12700">
            <a:solidFill>
              <a:srgbClr val="1E52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0" y="3035808"/>
            <a:ext cx="566928" cy="566928"/>
          </a:xfrm>
          <a:prstGeom prst="ellipse">
            <a:avLst/>
          </a:prstGeom>
          <a:solidFill>
            <a:srgbClr val="6FA0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332" y="3177540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3127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247888" y="3794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publier pour vendre au mieux ?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4892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Finalité — la satisfaction du vendeur 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maximum de cash encaissé (net des investissements), un délai de vente minimisé, une charge de gestion minimisée.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· Assistant IA du vendeur VO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2656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RNCP38616 · BC04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SENS, FORMALISÉ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de satisfaction à optimiser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0B15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</a:t>
            </a:r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 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net ↑</a:t>
            </a:r>
            <a:pPr algn="ctr" indent="0" marL="0">
              <a:buNone/>
            </a:pPr>
            <a:r>
              <a:rPr lang="en-US" sz="210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−   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× Délai ↓</a:t>
            </a:r>
            <a:pPr algn="ctr" indent="0" marL="0">
              <a:buNone/>
            </a:pPr>
            <a:r>
              <a:rPr lang="en-US" sz="210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−   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× Charge ↓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poids dépendent du profil du vendeur</a:t>
            </a:r>
            <a:pPr indent="0" marL="0">
              <a:buNone/>
            </a:pPr>
            <a:r>
              <a:rPr lang="en-US" sz="1350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OscarIA place le curseur avec lui, puis optimise les décisions État / Prix / Date en conséquence.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DF2FE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813048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5020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384962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pressé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5448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Déménagement, achat enchaîné, besoin de trésorerie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41248" y="4846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délai et la charge pèsent lourd → viser la vente rapide au meilleur net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35204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DF2FE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3813048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95020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384962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maximisateur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pressé, véhicule en bon état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464808" y="4846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cash prime → viser le prix de marché, accepter un délai plus long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· Assistant IA du vendeur VO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92656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RNCP38616 · BC04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symétrique vendeur, resté vacant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Scanicar analyse une annonce pour </a:t>
            </a:r>
            <a:pPr indent="0" marL="0">
              <a:buNone/>
            </a:pPr>
            <a:r>
              <a:rPr lang="en-US" sz="14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l’acheteur</a:t>
            </a:r>
            <a:pPr indent="0" marL="0">
              <a:buNone/>
            </a:pPr>
            <a:r>
              <a:rPr lang="en-US" sz="1450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OscarIA fait le symétrique pour </a:t>
            </a:r>
            <a:pPr indent="0" marL="0">
              <a:buNone/>
            </a:pPr>
            <a:r>
              <a:rPr lang="en-US" sz="1450" b="1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vendeur</a:t>
            </a:r>
            <a:pPr indent="0" marL="0">
              <a:buNone/>
            </a:pPr>
            <a:r>
              <a:rPr lang="en-US" sz="1450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et occupe un angle mort confirmé par notre veille.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560320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697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5054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assistants existants servent l’acheteur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08760" y="303580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Scanicar, CarJudgeAI, CoPilot… analysent l’annonce pour celui qui achète.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22860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2560320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6974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5054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vendeurs performants sont B2B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132320" y="303580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Spyne, Autobiz, Sonar Pricing (leboncoin/L’Argus) : puissants, mais réservés aux professionnels.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4160520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2976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1056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services grand public sont juges et parties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08760" y="463600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Rachat, mandataires, marketplaces : chacun optimise son intérêt, pas celui du vendeur.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72200" y="38862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DF2FE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28232" y="4160520"/>
            <a:ext cx="548640" cy="548640"/>
          </a:xfrm>
          <a:prstGeom prst="ellipse">
            <a:avLst/>
          </a:prstGeom>
          <a:solidFill>
            <a:srgbClr val="6FA0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2976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1056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= tiers neutre, grand public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132320" y="463600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 de vente indépendant, dont le revenu ne dépend pas du prix de rachat.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· Assistant IA du vendeur VO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92656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RNCP38616 · BC04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FONCTIONNALITÉS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décisions, plus la vie de l’annonce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566928" cy="566928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016252"/>
            <a:ext cx="283464" cy="283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82112" y="191109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E3ECFD"/>
          </a:solidFill>
          <a:ln/>
        </p:spPr>
      </p:sp>
      <p:sp>
        <p:nvSpPr>
          <p:cNvPr id="8" name="Text 5"/>
          <p:cNvSpPr/>
          <p:nvPr/>
        </p:nvSpPr>
        <p:spPr>
          <a:xfrm>
            <a:off x="3182112" y="191109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25877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véhicule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04672" y="302666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niveau d’effort / investissement avant la vente ? Positionne le véhicule selon son état actuel et ses états possibles.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160020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1874520"/>
            <a:ext cx="566928" cy="566928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4" y="2016252"/>
            <a:ext cx="283464" cy="2834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885432" y="191109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E3ECFD"/>
          </a:solidFill>
          <a:ln/>
        </p:spPr>
      </p:sp>
      <p:sp>
        <p:nvSpPr>
          <p:cNvPr id="15" name="Text 11"/>
          <p:cNvSpPr/>
          <p:nvPr/>
        </p:nvSpPr>
        <p:spPr>
          <a:xfrm>
            <a:off x="6885432" y="191109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07992" y="25877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de mise en vente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507992" y="302666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fourchette réaliste, et le prix max pour vendre « en urgence / dans la semaine / sous 1 mois ».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955280" y="160020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11312" y="1874520"/>
            <a:ext cx="566928" cy="566928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044" y="2016252"/>
            <a:ext cx="283464" cy="28346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588752" y="191109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E3ECFD"/>
          </a:solidFill>
          <a:ln/>
        </p:spPr>
      </p:sp>
      <p:sp>
        <p:nvSpPr>
          <p:cNvPr id="22" name="Text 17"/>
          <p:cNvSpPr/>
          <p:nvPr/>
        </p:nvSpPr>
        <p:spPr>
          <a:xfrm>
            <a:off x="10588752" y="191109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211312" y="25877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publication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8211312" y="302666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meilleure fenêtre de mise en vente, selon la saison et la demande.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48640" y="4041648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DF2FE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4672" y="4315968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453128"/>
            <a:ext cx="274320" cy="27432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074920" y="4315968"/>
            <a:ext cx="548640" cy="292608"/>
          </a:xfrm>
          <a:prstGeom prst="roundRect">
            <a:avLst>
              <a:gd name="adj" fmla="val 18750"/>
            </a:avLst>
          </a:prstGeom>
          <a:solidFill>
            <a:srgbClr val="F4E7D6"/>
          </a:solidFill>
          <a:ln/>
        </p:spPr>
      </p:sp>
      <p:sp>
        <p:nvSpPr>
          <p:cNvPr id="29" name="Text 23"/>
          <p:cNvSpPr/>
          <p:nvPr/>
        </p:nvSpPr>
        <p:spPr>
          <a:xfrm>
            <a:off x="5074920" y="43159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9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508760" y="42976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l’annonce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1508760" y="4718304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les messages de prospects, répond aux demandes simples — allège la charge du vendeur.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172200" y="4041648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DF2FE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428232" y="4315968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453128"/>
            <a:ext cx="274320" cy="27432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0698480" y="4315968"/>
            <a:ext cx="548640" cy="292608"/>
          </a:xfrm>
          <a:prstGeom prst="roundRect">
            <a:avLst>
              <a:gd name="adj" fmla="val 18750"/>
            </a:avLst>
          </a:prstGeom>
          <a:solidFill>
            <a:srgbClr val="F4E7D6"/>
          </a:solidFill>
          <a:ln/>
        </p:spPr>
      </p:sp>
      <p:sp>
        <p:nvSpPr>
          <p:cNvPr id="36" name="Text 29"/>
          <p:cNvSpPr/>
          <p:nvPr/>
        </p:nvSpPr>
        <p:spPr>
          <a:xfrm>
            <a:off x="10698480" y="43159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9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7132320" y="42976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évolutive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7132320" y="4718304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 évoluer l’annonce si la vente tarde (ex. baisse de prix en l’absence de contacts).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54864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= MVP prioritaire · P1 = extension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· Assistant IA du vendeur VO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92656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RNCP38616 · BC04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 EN UN FLUX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vendeur, de bout en bout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9304" y="2578608"/>
            <a:ext cx="603504" cy="603504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27294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375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Décrire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6656" y="3749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 + objectif de délai (urgence / semaine / mois)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188" y="3218688"/>
            <a:ext cx="146304" cy="1463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07208" y="22860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47872" y="2578608"/>
            <a:ext cx="603504" cy="603504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748" y="272948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98648" y="33375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Analyser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935224" y="3749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croise marché, état et saison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756" y="3218688"/>
            <a:ext cx="146304" cy="14630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65776" y="22860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806440" y="2578608"/>
            <a:ext cx="603504" cy="603504"/>
          </a:xfrm>
          <a:prstGeom prst="ellipse">
            <a:avLst/>
          </a:prstGeom>
          <a:solidFill>
            <a:srgbClr val="6FA0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316" y="2729484"/>
            <a:ext cx="301752" cy="3017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57216" y="33375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Plan d’action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5193792" y="3749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à viser · prix cible &amp; plancher · date de publication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4324" y="3218688"/>
            <a:ext cx="146304" cy="14630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324344" y="22860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8065008" y="2578608"/>
            <a:ext cx="603504" cy="603504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5884" y="2729484"/>
            <a:ext cx="301752" cy="30175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415784" y="33375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Diffuser &amp; gérer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7452360" y="3749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 optimisée · tri et réponses aux prospects</a:t>
            </a:r>
            <a:endParaRPr lang="en-US" sz="10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2892" y="3218688"/>
            <a:ext cx="146304" cy="14630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582912" y="22860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10323576" y="2578608"/>
            <a:ext cx="603504" cy="603504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4452" y="2729484"/>
            <a:ext cx="301752" cy="30175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674352" y="33375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Suivre &amp; ajuster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9710928" y="3749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Vues/contacts vs marché → repricing recommandé</a:t>
            </a:r>
            <a:endParaRPr lang="en-US" sz="1050" dirty="0"/>
          </a:p>
        </p:txBody>
      </p:sp>
      <p:sp>
        <p:nvSpPr>
          <p:cNvPr id="33" name="Text 22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de valeur : l’étape 3 — un plan concret et chiffré, restitué par un tiers sans intérêt à sous-payer le vendeur.</a:t>
            </a:r>
            <a:endParaRPr lang="en-US" sz="1250" dirty="0"/>
          </a:p>
        </p:txBody>
      </p:sp>
      <p:sp>
        <p:nvSpPr>
          <p:cNvPr id="34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· Assistant IA du vendeur VO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92656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RNCP38616 · BC04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OPTIONS 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briques d’IA pour quelles décisions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01368"/>
            <a:ext cx="512064" cy="512064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93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— régression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63040" y="2075688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d’apprentissage (gradient boosting / XGBoost) → fourchette + intervalle de confiance. Testable dès maintenant sur les données Kaggle.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72200" y="157276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9944" y="1801368"/>
            <a:ext cx="512064" cy="512064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938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× délai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86600" y="2075688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de vente sous X jours selon le prix (classification / survie) → la courbe prix-délai. Nécessite des annonces horodatées.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2962656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3191256"/>
            <a:ext cx="512064" cy="512064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1927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108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— ROI réparations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63040" y="3465576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 le gain de valeur d’une remise en état vs son coût → recommande « tel quel / réparer / mettre en valeur ».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72200" y="2962656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9944" y="3191256"/>
            <a:ext cx="512064" cy="512064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31927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108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— saisonnalité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86600" y="3465576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séries temporelles de la demande par modèle et saison → meilleure fenêtre de publication.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4352544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86384" y="4581144"/>
            <a:ext cx="512064" cy="512064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70916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4988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conversationnel (LLM)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63040" y="4855464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l’annonce, filtre et répond aux prospects — avec garde-fous et données structurées (RAG) pour éviter les hallucinations.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6172200" y="4352544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EDF2FE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09944" y="4581144"/>
            <a:ext cx="512064" cy="512064"/>
          </a:xfrm>
          <a:prstGeom prst="ellipse">
            <a:avLst/>
          </a:prstGeom>
          <a:solidFill>
            <a:srgbClr val="5C6B8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70916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44988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(option / V2)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86600" y="4855464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photos (état, mise en valeur) — via partenariat plutôt que développement interne.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· Assistant IA du vendeur VO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92656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RNCP38616 · BC04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DONNÉE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socle pour prototyper, une stratégie pour aller plus loin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DF2FE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0162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38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données Kaggle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~50 000 véhicules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· modèle · année · kilométrage · carburant · cylindrée → prix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Permet un </a:t>
            </a:r>
            <a:pPr indent="0" marL="0">
              <a:buNone/>
            </a:pPr>
            <a:r>
              <a:rPr lang="en-US" sz="1250" b="1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crédible du pilier Prix</a:t>
            </a:r>
            <a:pPr indent="0" marL="0">
              <a:buNone/>
            </a:pPr>
            <a:r>
              <a:rPr lang="en-US" sz="1250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dès maintenant (démontre la chaîne ML de bout en bout).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64592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874520"/>
            <a:ext cx="566928" cy="566928"/>
          </a:xfrm>
          <a:prstGeom prst="ellipse">
            <a:avLst/>
          </a:prstGeom>
          <a:solidFill>
            <a:srgbClr val="E091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972" y="201625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938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assumées &amp; stratégie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492240" y="26974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(mock) : à valider ensuite sur des données réelles.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variable de délai ni d’état → les piliers Date et État exigent d’autres sources.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données (Data Engineering) : annonces horodatées, saisie d’état, historique.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nouvelle : les prix réellement transactés se diffusent (« Valeur Argus Transaction »).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transparence sur les limites de la donnée fait partie de la démarche (rigueur &amp; éthique).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· Assistant IA du vendeur VO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92656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RNCP38616 · BC04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389120"/>
            <a:ext cx="4023360" cy="4023360"/>
          </a:xfrm>
          <a:prstGeom prst="ellipse">
            <a:avLst/>
          </a:prstGeom>
          <a:solidFill>
            <a:srgbClr val="1E52E5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463040"/>
            <a:ext cx="3474720" cy="3474720"/>
          </a:xfrm>
          <a:prstGeom prst="ellipse">
            <a:avLst/>
          </a:prstGeom>
          <a:solidFill>
            <a:srgbClr val="6FA0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ROI — POUR LE VENDEUR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vendeur y gagne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bénéficiaire ici : le vendeur. OscarIA agit sur les trois termes de sa satisfaction — plus de cash, moins de délai, moins de charge.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474720" cy="3017520"/>
          </a:xfrm>
          <a:prstGeom prst="roundRect">
            <a:avLst>
              <a:gd name="adj" fmla="val 2727"/>
            </a:avLst>
          </a:prstGeom>
          <a:solidFill>
            <a:srgbClr val="18295E"/>
          </a:solidFill>
          <a:ln w="12700">
            <a:solidFill>
              <a:srgbClr val="1E52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514600"/>
            <a:ext cx="548640" cy="548640"/>
          </a:xfrm>
          <a:prstGeom prst="ellipse">
            <a:avLst/>
          </a:prstGeom>
          <a:solidFill>
            <a:srgbClr val="6FA0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517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154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à 40 %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822960" y="37764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cash encaissé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41788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L’écart entre une reprise rapide et une vente au juste prix du marché — capté par le vendeur, net des investissements conseillés.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4251960" y="2240280"/>
            <a:ext cx="3474720" cy="3017520"/>
          </a:xfrm>
          <a:prstGeom prst="roundRect">
            <a:avLst>
              <a:gd name="adj" fmla="val 2727"/>
            </a:avLst>
          </a:prstGeom>
          <a:solidFill>
            <a:srgbClr val="18295E"/>
          </a:solidFill>
          <a:ln w="12700">
            <a:solidFill>
              <a:srgbClr val="1E52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26280" y="2514600"/>
            <a:ext cx="548640" cy="548640"/>
          </a:xfrm>
          <a:prstGeom prst="ellipse">
            <a:avLst/>
          </a:prstGeom>
          <a:solidFill>
            <a:srgbClr val="6FA0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6517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26280" y="3154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1-2 % / mois</a:t>
            </a:r>
            <a:endParaRPr lang="en-US" sz="2900" dirty="0"/>
          </a:p>
        </p:txBody>
      </p:sp>
      <p:sp>
        <p:nvSpPr>
          <p:cNvPr id="17" name="Text 13"/>
          <p:cNvSpPr/>
          <p:nvPr/>
        </p:nvSpPr>
        <p:spPr>
          <a:xfrm>
            <a:off x="4526280" y="37764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délai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26280" y="41788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valeur préservée : viser le bon prix, le bon canal et la bonne date réduit l’attente et la dépréciation.</a:t>
            </a:r>
            <a:endParaRPr lang="en-US" sz="1120" dirty="0"/>
          </a:p>
        </p:txBody>
      </p:sp>
      <p:sp>
        <p:nvSpPr>
          <p:cNvPr id="19" name="Shape 15"/>
          <p:cNvSpPr/>
          <p:nvPr/>
        </p:nvSpPr>
        <p:spPr>
          <a:xfrm>
            <a:off x="7955280" y="2240280"/>
            <a:ext cx="3474720" cy="3017520"/>
          </a:xfrm>
          <a:prstGeom prst="roundRect">
            <a:avLst>
              <a:gd name="adj" fmla="val 2727"/>
            </a:avLst>
          </a:prstGeom>
          <a:solidFill>
            <a:srgbClr val="18295E"/>
          </a:solidFill>
          <a:ln w="12700">
            <a:solidFill>
              <a:srgbClr val="1E52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0" y="2514600"/>
            <a:ext cx="548640" cy="548640"/>
          </a:xfrm>
          <a:prstGeom prst="ellipse">
            <a:avLst/>
          </a:prstGeom>
          <a:solidFill>
            <a:srgbClr val="6FA0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65176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29600" y="3154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effort</a:t>
            </a:r>
            <a:endParaRPr lang="en-US" sz="2900" dirty="0"/>
          </a:p>
        </p:txBody>
      </p:sp>
      <p:sp>
        <p:nvSpPr>
          <p:cNvPr id="23" name="Text 18"/>
          <p:cNvSpPr/>
          <p:nvPr/>
        </p:nvSpPr>
        <p:spPr>
          <a:xfrm>
            <a:off x="8229600" y="37764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charge &amp; de risque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229600" y="41788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 optimisée, tri des prospects, paiement sécurisé : moins d’heures perdues, moins d’arnaques, moins de stress.</a:t>
            </a:r>
            <a:endParaRPr lang="en-US" sz="1120" dirty="0"/>
          </a:p>
        </p:txBody>
      </p:sp>
      <p:sp>
        <p:nvSpPr>
          <p:cNvPr id="25" name="Text 20"/>
          <p:cNvSpPr/>
          <p:nvPr/>
        </p:nvSpPr>
        <p:spPr>
          <a:xfrm>
            <a:off x="548640" y="5504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= potentiel, fondés sur les écarts de marché vérifiés (reprise vs vente directe) — à confirmer produit en main.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· Assistant IA du vendeur VO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92656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RNCP38616 · BC04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avec le bloc RNCP38616 — BC04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BC04 — </a:t>
            </a:r>
            <a:pPr indent="0" marL="0">
              <a:buNone/>
            </a:pPr>
            <a:r>
              <a:rPr lang="en-US" sz="1350" i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Mener des projets IA et Big Data en équipe en intégrant les contraintes légales et des considérations éthiques »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23160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560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6829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 le projet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2770632"/>
            <a:ext cx="4279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Cadrage, jalons, gestion des risques, itérations — du POC prix au MVP.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6172200" y="2148840"/>
            <a:ext cx="53492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2423160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560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36829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en équipe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32320" y="2770632"/>
            <a:ext cx="4279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répartis (données, modèles, produit, présentation), rituels de suivi.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548640" y="3721608"/>
            <a:ext cx="5349240" cy="1389888"/>
          </a:xfrm>
          <a:prstGeom prst="roundRect">
            <a:avLst>
              <a:gd name="adj" fmla="val 5921"/>
            </a:avLst>
          </a:prstGeom>
          <a:solidFill>
            <a:srgbClr val="EDF2FE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3995928"/>
            <a:ext cx="548640" cy="548640"/>
          </a:xfrm>
          <a:prstGeom prst="ellipse">
            <a:avLst/>
          </a:prstGeom>
          <a:solidFill>
            <a:srgbClr val="6FA0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13308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9410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légales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08760" y="4343400"/>
            <a:ext cx="4279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(données véhicule &amp; VIN), AI Act (transparence), accès aux données (partenariats, pas de scraping sauvage).</a:t>
            </a:r>
            <a:endParaRPr lang="en-US" sz="1130" dirty="0"/>
          </a:p>
        </p:txBody>
      </p:sp>
      <p:sp>
        <p:nvSpPr>
          <p:cNvPr id="20" name="Shape 15"/>
          <p:cNvSpPr/>
          <p:nvPr/>
        </p:nvSpPr>
        <p:spPr>
          <a:xfrm>
            <a:off x="6172200" y="3721608"/>
            <a:ext cx="5349240" cy="1389888"/>
          </a:xfrm>
          <a:prstGeom prst="roundRect">
            <a:avLst>
              <a:gd name="adj" fmla="val 5921"/>
            </a:avLst>
          </a:prstGeom>
          <a:solidFill>
            <a:srgbClr val="EDF2FE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28232" y="3995928"/>
            <a:ext cx="548640" cy="548640"/>
          </a:xfrm>
          <a:prstGeom prst="ellipse">
            <a:avLst/>
          </a:prstGeom>
          <a:solidFill>
            <a:srgbClr val="6FA0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13308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39410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Considérations éthiques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132320" y="4343400"/>
            <a:ext cx="4279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Neutralité (pas juge et partie), explicabilité du prix, gestion des biais, non-manipulation du vendeur.</a:t>
            </a:r>
            <a:endParaRPr lang="en-US" sz="113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est conçu pour produire les preuves attendues par le bloc : livrables de cadrage, code &amp; modèles, note juridique et éthique.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· Assistant IA du vendeur VO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92656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RNCP38616 · BC04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LÉGAL &amp; ÉTHIQUE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intégrons dès la conception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836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&amp; données personnelles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286000"/>
            <a:ext cx="4279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VIN devient une donnée personnelle pour qui peut l’associer à une personne (CJUE, arrêt Scania, 2023). Minimisation, base légale, prudence sur les coordonnées.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34924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920240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0574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836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&amp; transparence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32320" y="2286000"/>
            <a:ext cx="4279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de recommandation = risque « limité » : afficher l’usage de l’IA, les sources et l’incertitude ; rester une aide à la décision.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534924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57600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7947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6210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données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4023360"/>
            <a:ext cx="4279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Privilégier partenariats et API ; le scraping concurrentiel est juridiquement risqué en France (jurisprudence leboncoin / La Centrale).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383280"/>
            <a:ext cx="534924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3657600"/>
            <a:ext cx="548640" cy="548640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37947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6210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Éthique &amp; neutralité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32320" y="4023360"/>
            <a:ext cx="4279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indépendant du prix de rachat ; prix explicable (fourchette + incertitude) ; vigilance sur les biais du modèle et des données.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· Assistant IA du vendeur VO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92656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RNCP38616 · BC04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&amp; FEUILLE DE ROUTE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progression par jalons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15184" cy="29260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2768" y="2286000"/>
            <a:ext cx="566928" cy="566928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4277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017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Cadrage &amp; POC Prix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Cadrage, rôles, jeu Kaggle : modèle de prix (fourchette + confiance). Démontre la chaîne ML.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346704" y="2011680"/>
            <a:ext cx="2615184" cy="29260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0832" y="2286000"/>
            <a:ext cx="566928" cy="566928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64" y="24277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3017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MVP 3 décisions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29584" y="374904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/ Prix / Date + assistant de génération d’annonce. Premiers tests utilisateurs.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144768" y="2011680"/>
            <a:ext cx="2615184" cy="29260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68896" y="2286000"/>
            <a:ext cx="566928" cy="566928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628" y="242773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3017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Gestion &amp; stratégie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27648" y="374904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des prospects, réponses, repricing dynamique. Données réelles horodatées.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8942832" y="2011680"/>
            <a:ext cx="2615184" cy="29260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66960" y="2286000"/>
            <a:ext cx="566928" cy="566928"/>
          </a:xfrm>
          <a:prstGeom prst="ellipse">
            <a:avLst/>
          </a:prstGeom>
          <a:solidFill>
            <a:srgbClr val="1E52E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692" y="242773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7424" y="3017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Consolidation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25712" y="374904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Sécurisation transaction, pistes B2B2C, préparation de la soutenance.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phase produit un livrable évaluable — cohérent avec une démarche de projet certifiante.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· Assistant IA du vendeur VO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92656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RNCP38616 · BC04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5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&amp; hypothèses à valider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DF2FE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548640" cy="548640"/>
          </a:xfrm>
          <a:prstGeom prst="ellipse">
            <a:avLst/>
          </a:prstGeom>
          <a:solidFill>
            <a:srgbClr val="E091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476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à payer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350008"/>
            <a:ext cx="4279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vendeur ponctuel paiera-t-il ? → tester le prix, viser le B2B2C.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DF2FE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965960"/>
            <a:ext cx="548640" cy="548640"/>
          </a:xfrm>
          <a:prstGeom prst="ellipse">
            <a:avLst/>
          </a:prstGeom>
          <a:solidFill>
            <a:srgbClr val="E0913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476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données réelles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32320" y="2350008"/>
            <a:ext cx="4279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et état absents du jeu mock → sécuriser des sources (partenariats/API).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548640" y="333756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DF2FE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11880"/>
            <a:ext cx="548640" cy="548640"/>
          </a:xfrm>
          <a:prstGeom prst="ellipse">
            <a:avLst/>
          </a:prstGeom>
          <a:solidFill>
            <a:srgbClr val="E0913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7490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5935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&amp; confiance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3995928"/>
            <a:ext cx="4279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net par canal » doit être fiable et explicable pour être suivi.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172200" y="333756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DF2FE"/>
          </a:solidFill>
          <a:ln w="12700">
            <a:solidFill>
              <a:srgbClr val="D5DEF5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2A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3611880"/>
            <a:ext cx="548640" cy="548640"/>
          </a:xfrm>
          <a:prstGeom prst="ellipse">
            <a:avLst/>
          </a:prstGeom>
          <a:solidFill>
            <a:srgbClr val="E0913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37490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5935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Différenciation vs Scanicar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32320" y="3995928"/>
            <a:ext cx="4279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réellement neutre et grand public, là où les autres sont B2B ou intéressés.</a:t>
            </a:r>
            <a:endParaRPr lang="en-US" sz="113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· Assistant IA du vendeur VO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9265615" y="6473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RNCP38616 · BC04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023360"/>
            <a:ext cx="4206240" cy="4206240"/>
          </a:xfrm>
          <a:prstGeom prst="ellipse">
            <a:avLst/>
          </a:prstGeom>
          <a:solidFill>
            <a:srgbClr val="1E52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6FA0FF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soumettons à la réunion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6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 cadrage :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décisions (État / Prix / Date) comme cœur du produit.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6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le POC Prix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données Kaggle comme premier livrable.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6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Acter la stratégie de données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piliers Date et État.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6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Répartir les rôles d’équipe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 planning des jalons (cadre BC04).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8295E"/>
          </a:solidFill>
          <a:ln w="12700">
            <a:solidFill>
              <a:srgbClr val="6FA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6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OscarIA :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 au vendeur, pour SA voiture, combien il touche net et en combien de temps — par un tiers qui n’a aucun intérêt à le sous-payer.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OscarIA — Assistant IA du vendeur de véhicule d'occasion</dc:title>
  <dc:subject>PptxGenJS Presentation</dc:subject>
  <dc:creator>Équipe OscarIA</dc:creator>
  <cp:lastModifiedBy>Équipe OscarIA</cp:lastModifiedBy>
  <cp:revision>1</cp:revision>
  <dcterms:created xsi:type="dcterms:W3CDTF">2026-07-02T19:08:17Z</dcterms:created>
  <dcterms:modified xsi:type="dcterms:W3CDTF">2026-07-02T19:08:17Z</dcterms:modified>
</cp:coreProperties>
</file>